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c638aaf9dd4eca" /><Relationship Type="http://schemas.openxmlformats.org/officeDocument/2006/relationships/extended-properties" Target="/docProps/app.xml" Id="Rd28cb4a19c9342bf" /><Relationship Type="http://schemas.openxmlformats.org/officeDocument/2006/relationships/officeDocument" Target="/ppt/presentation.xml" Id="Re8c2a50ae1324a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d512d690084453"/>
  </p:sldMasterIdLst>
  <p:notesMasterIdLst>
    <p:notesMasterId xmlns:r="http://schemas.openxmlformats.org/officeDocument/2006/relationships" r:id="R8fc91af58bbe46dc"/>
  </p:notesMasterIdLst>
  <p:sldIdLst>
    <p:sldId xmlns:r="http://schemas.openxmlformats.org/officeDocument/2006/relationships" id="256" r:id="Ra29d9a437c524d9d"/>
    <p:sldId xmlns:r="http://schemas.openxmlformats.org/officeDocument/2006/relationships" id="257" r:id="R9f730f54fbf4475d"/>
    <p:sldId xmlns:r="http://schemas.openxmlformats.org/officeDocument/2006/relationships" id="258" r:id="Re4b4781b035d4d27"/>
    <p:sldId xmlns:r="http://schemas.openxmlformats.org/officeDocument/2006/relationships" id="259" r:id="R3408915bf1f9492e"/>
    <p:sldId xmlns:r="http://schemas.openxmlformats.org/officeDocument/2006/relationships" id="260" r:id="R96338140c2394f98"/>
    <p:sldId xmlns:r="http://schemas.openxmlformats.org/officeDocument/2006/relationships" id="261" r:id="R0f5fb2bf10c7430d"/>
    <p:sldId xmlns:r="http://schemas.openxmlformats.org/officeDocument/2006/relationships" id="262" r:id="R022f20d31a0b4d2b"/>
    <p:sldId xmlns:r="http://schemas.openxmlformats.org/officeDocument/2006/relationships" id="263" r:id="Rb1b55d3f9f954ccd"/>
    <p:sldId xmlns:r="http://schemas.openxmlformats.org/officeDocument/2006/relationships" id="264" r:id="Rf5229f4014c84513"/>
    <p:sldId xmlns:r="http://schemas.openxmlformats.org/officeDocument/2006/relationships" id="265" r:id="R7b1a15fc35374911"/>
    <p:sldId xmlns:r="http://schemas.openxmlformats.org/officeDocument/2006/relationships" id="266" r:id="R32b52083b04c472e"/>
    <p:sldId xmlns:r="http://schemas.openxmlformats.org/officeDocument/2006/relationships" id="267" r:id="Rfda92a12100c42ea"/>
    <p:sldId xmlns:r="http://schemas.openxmlformats.org/officeDocument/2006/relationships" id="268" r:id="Re6e9fc6403c04870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d512d690084453" /><Relationship Type="http://schemas.openxmlformats.org/officeDocument/2006/relationships/theme" Target="/ppt/theme/theme1.xml" Id="R49cb90c222f14861" /><Relationship Type="http://schemas.openxmlformats.org/officeDocument/2006/relationships/notesMaster" Target="/ppt/notesMasters/notesMaster1.xml" Id="R8fc91af58bbe46dc" /><Relationship Type="http://schemas.openxmlformats.org/officeDocument/2006/relationships/presProps" Target="/ppt/presProps.xml" Id="Rdb86b5bf7f0f44f6" /><Relationship Type="http://schemas.openxmlformats.org/officeDocument/2006/relationships/viewProps" Target="/ppt/viewProps.xml" Id="Rdb4d5fb38b6a4c91" /><Relationship Type="http://schemas.openxmlformats.org/officeDocument/2006/relationships/tableStyles" Target="/ppt/tableStyles.xml" Id="R11a962452ce1494e" /><Relationship Type="http://schemas.openxmlformats.org/officeDocument/2006/relationships/slide" Target="/ppt/slides/slide1.xml" Id="Ra29d9a437c524d9d" /><Relationship Type="http://schemas.openxmlformats.org/officeDocument/2006/relationships/slide" Target="/ppt/slides/slide2.xml" Id="R9f730f54fbf4475d" /><Relationship Type="http://schemas.openxmlformats.org/officeDocument/2006/relationships/slide" Target="/ppt/slides/slide3.xml" Id="Re4b4781b035d4d27" /><Relationship Type="http://schemas.openxmlformats.org/officeDocument/2006/relationships/slide" Target="/ppt/slides/slide4.xml" Id="R3408915bf1f9492e" /><Relationship Type="http://schemas.openxmlformats.org/officeDocument/2006/relationships/slide" Target="/ppt/slides/slide5.xml" Id="R96338140c2394f98" /><Relationship Type="http://schemas.openxmlformats.org/officeDocument/2006/relationships/slide" Target="/ppt/slides/slide6.xml" Id="R0f5fb2bf10c7430d" /><Relationship Type="http://schemas.openxmlformats.org/officeDocument/2006/relationships/slide" Target="/ppt/slides/slide7.xml" Id="R022f20d31a0b4d2b" /><Relationship Type="http://schemas.openxmlformats.org/officeDocument/2006/relationships/slide" Target="/ppt/slides/slide8.xml" Id="Rb1b55d3f9f954ccd" /><Relationship Type="http://schemas.openxmlformats.org/officeDocument/2006/relationships/slide" Target="/ppt/slides/slide9.xml" Id="Rf5229f4014c84513" /><Relationship Type="http://schemas.openxmlformats.org/officeDocument/2006/relationships/slide" Target="/ppt/slides/slide10.xml" Id="R7b1a15fc35374911" /><Relationship Type="http://schemas.openxmlformats.org/officeDocument/2006/relationships/slide" Target="/ppt/slides/slide11.xml" Id="R32b52083b04c472e" /><Relationship Type="http://schemas.openxmlformats.org/officeDocument/2006/relationships/slide" Target="/ppt/slides/slide12.xml" Id="Rfda92a12100c42ea" /><Relationship Type="http://schemas.openxmlformats.org/officeDocument/2006/relationships/slide" Target="/ppt/slides/slide13.xml" Id="Re6e9fc6403c048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4ddcdd0a3a44e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1c609f08cf409c" /><Relationship Type="http://schemas.openxmlformats.org/officeDocument/2006/relationships/notesMaster" Target="/ppt/notesMasters/notesMaster1.xml" Id="R3b038c13dd8c4a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ee333c347f41e2" /><Relationship Type="http://schemas.openxmlformats.org/officeDocument/2006/relationships/notesMaster" Target="/ppt/notesMasters/notesMaster1.xml" Id="R767ec4bbb1c04e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fd34b3bf8d4279" /><Relationship Type="http://schemas.openxmlformats.org/officeDocument/2006/relationships/notesMaster" Target="/ppt/notesMasters/notesMaster1.xml" Id="Rfa2485bcda2141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12b99b29ba494f" /><Relationship Type="http://schemas.openxmlformats.org/officeDocument/2006/relationships/notesMaster" Target="/ppt/notesMasters/notesMaster1.xml" Id="Ra6c8c96d0f2f4b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ac147f516642ec" /><Relationship Type="http://schemas.openxmlformats.org/officeDocument/2006/relationships/notesMaster" Target="/ppt/notesMasters/notesMaster1.xml" Id="R8a8f5226715042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275cb5bce341d6" /><Relationship Type="http://schemas.openxmlformats.org/officeDocument/2006/relationships/notesMaster" Target="/ppt/notesMasters/notesMaster1.xml" Id="R015119790af849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68554b6c7440f2" /><Relationship Type="http://schemas.openxmlformats.org/officeDocument/2006/relationships/notesMaster" Target="/ppt/notesMasters/notesMaster1.xml" Id="Rd1f720a9d7f045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361ea8f7a74b40" /><Relationship Type="http://schemas.openxmlformats.org/officeDocument/2006/relationships/notesMaster" Target="/ppt/notesMasters/notesMaster1.xml" Id="R3c275ade97d740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0efdd24dda4f3d" /><Relationship Type="http://schemas.openxmlformats.org/officeDocument/2006/relationships/notesMaster" Target="/ppt/notesMasters/notesMaster1.xml" Id="R7050b5e5efae44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ecfc26288845fb" /><Relationship Type="http://schemas.openxmlformats.org/officeDocument/2006/relationships/notesMaster" Target="/ppt/notesMasters/notesMaster1.xml" Id="R01d5787fdc9d4f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ea2b1f412b4cba" /><Relationship Type="http://schemas.openxmlformats.org/officeDocument/2006/relationships/notesMaster" Target="/ppt/notesMasters/notesMaster1.xml" Id="Rb0d33878a2ef4f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9428da97594e82" /><Relationship Type="http://schemas.openxmlformats.org/officeDocument/2006/relationships/notesMaster" Target="/ppt/notesMasters/notesMaster1.xml" Id="Ra1a852356cc343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65a77d5ab74bc2" /><Relationship Type="http://schemas.openxmlformats.org/officeDocument/2006/relationships/notesMaster" Target="/ppt/notesMasters/notesMaster1.xml" Id="R55bd746517ad4d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7bc0f7409d444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427d69741014561" /><Relationship Type="http://schemas.openxmlformats.org/officeDocument/2006/relationships/slideLayout" Target="/ppt/slideLayouts/slideLayout2.xml" Id="Ra365a556848341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65a556848341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3a155b72464f33" /><Relationship Type="http://schemas.openxmlformats.org/officeDocument/2006/relationships/notesSlide" Target="/ppt/notesSlides/notesSlide1.xml" Id="Raf50e8d7f8bd40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a22a97b41643e6" /><Relationship Type="http://schemas.openxmlformats.org/officeDocument/2006/relationships/notesSlide" Target="/ppt/notesSlides/notesSlide2.xml" Id="Rbd557651e0254a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07080a613542ef" /><Relationship Type="http://schemas.openxmlformats.org/officeDocument/2006/relationships/notesSlide" Target="/ppt/notesSlides/notesSlide3.xml" Id="R52a380af34cc47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f4d2735c984114" /><Relationship Type="http://schemas.openxmlformats.org/officeDocument/2006/relationships/notesSlide" Target="/ppt/notesSlides/notesSlide4.xml" Id="R2892414c30614c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ebf9edf34b42cb" /><Relationship Type="http://schemas.openxmlformats.org/officeDocument/2006/relationships/notesSlide" Target="/ppt/notesSlides/notesSlide5.xml" Id="R4c311641653844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155a77c0f74df7" /><Relationship Type="http://schemas.openxmlformats.org/officeDocument/2006/relationships/notesSlide" Target="/ppt/notesSlides/notesSlide6.xml" Id="R96de8882874e4d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29ead881224e95" /><Relationship Type="http://schemas.openxmlformats.org/officeDocument/2006/relationships/notesSlide" Target="/ppt/notesSlides/notesSlide7.xml" Id="Rd8cec674a9d147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20603058d04a91" /><Relationship Type="http://schemas.openxmlformats.org/officeDocument/2006/relationships/notesSlide" Target="/ppt/notesSlides/notesSlide8.xml" Id="Rcfb7bdeb31c84d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737dd6e8fb4d8d" /><Relationship Type="http://schemas.openxmlformats.org/officeDocument/2006/relationships/notesSlide" Target="/ppt/notesSlides/notesSlide9.xml" Id="Re7921572294040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4eb643965a4f34" /><Relationship Type="http://schemas.openxmlformats.org/officeDocument/2006/relationships/notesSlide" Target="/ppt/notesSlides/notesSlide10.xml" Id="R3b16bd4c5e6844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9a0879b0914f1e" /><Relationship Type="http://schemas.openxmlformats.org/officeDocument/2006/relationships/notesSlide" Target="/ppt/notesSlides/notesSlide11.xml" Id="Rffe5daf57b6a48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6a00acd5154afa" /><Relationship Type="http://schemas.openxmlformats.org/officeDocument/2006/relationships/notesSlide" Target="/ppt/notesSlides/notesSlide12.xml" Id="Rf8b51d35e2b34e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69bb43129548ae" /><Relationship Type="http://schemas.openxmlformats.org/officeDocument/2006/relationships/notesSlide" Target="/ppt/notesSlides/notesSlide13.xml" Id="R2c386320ed8c46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928DD3-752B-4A3B-89D3-9B480620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273016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45E9D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77862-3D84-4ADB-9BB6-184C9DEB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933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NLP Addition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F3E07-B290-4B40-8259-FB6E673B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616" y="647700"/>
            <a:ext cx="90116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58198-1F5D-4FEE-A33F-F764B324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PyTorch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32B4C-0B33-45AA-9FFD-87BE8B47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5657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把加法當成自然語言任務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6A621-E390-4B1D-B434-0A056E68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11582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F6B76"/>
                </a:solidFill>
              </a:defRPr>
            </a:pPr>
            <a:r>
              <a:rPr sz="1950" b="0">
                <a:solidFill>
                  <a:srgbClr val="5F6B76"/>
                </a:solidFill>
              </a:rPr>
              <a:t>同一份 CSV，切成分類、迴歸、多標籤、序列生成，讓學生看見 loss 與輸出設計如何改變模型學到的東西。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CDC9C-D6D8-4D67-9807-5AC7A854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9D"/>
          </a:solidFill>
          <a:ln xmlns:a="http://schemas.openxmlformats.org/drawingml/2006/main" w="0">
            <a:solidFill>
              <a:srgbClr val="245E9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1EE2D-4C2E-41DD-8F9E-97BFF460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5384800" cy="6410325"/>
          </a:xfrm>
          <a:prstGeom xmlns:a="http://schemas.openxmlformats.org/drawingml/2006/main" prst="roundRect">
            <a:avLst>
              <a:gd name="adj" fmla="val 1415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04E10-4577-4728-989B-81012524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6710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輸入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37CA6-DC2B-4FF1-82A0-A26D3660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485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`166+644` 是字元序列，不給模型數學規則。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5B15A-2A9A-4E34-8B4B-298319E2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3228975"/>
            <a:ext cx="5384800" cy="6410325"/>
          </a:xfrm>
          <a:prstGeom xmlns:a="http://schemas.openxmlformats.org/drawingml/2006/main" prst="roundRect">
            <a:avLst>
              <a:gd name="adj" fmla="val 1415"/>
            </a:avLst>
          </a:prstGeom>
          <a:solidFill xmlns:a="http://schemas.openxmlformats.org/drawingml/2006/main">
            <a:srgbClr val="DDF3F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2992C-D82C-4C54-A0CB-8CD6F2E2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6710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目標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69A54-666A-4FAE-82E0-06818C8E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4810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答案 810 可以是 class id、連續值、四個 digit，或生成序列。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69EE8-C73B-4361-AB1B-0D7E646D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3228975"/>
            <a:ext cx="5384800" cy="6410325"/>
          </a:xfrm>
          <a:prstGeom xmlns:a="http://schemas.openxmlformats.org/drawingml/2006/main" prst="roundRect">
            <a:avLst>
              <a:gd name="adj" fmla="val 1415"/>
            </a:avLst>
          </a:prstGeom>
          <a:solidFill xmlns:a="http://schemas.openxmlformats.org/drawingml/2006/main">
            <a:srgbClr val="F5E7C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E85C7-8C1A-4575-AFDB-0A11F15C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46710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核心問題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33B0DF-5A6B-4107-85AD-A441B2BD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84810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模型到底是在記憶分布，還是在學位值、進位與輸出格式？</a:t>
            </a:r>
          </a:p>
        </p:txBody>
      </p:sp>
    </p:spTree>
    <p:extLst>
      <p:ext uri="{BB962C8B-B14F-4D97-AF65-F5344CB8AC3E}">
        <p14:creationId xmlns:p14="http://schemas.microsoft.com/office/powerpoint/2010/main" val="6803922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6FE786-CC2A-4FB7-AEF8-9F0E07A0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273016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AA7A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A6A94-4F58-4985-A946-5967B354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933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NLP Addition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8BB4D-9BE9-4FD1-93F3-B30F8D28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616" y="647700"/>
            <a:ext cx="90116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633A6-C29B-4693-96FA-477B64BC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PyTorch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782B0-1F8E-43BE-A48A-9E9C826B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4114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資料集格式與切分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74FCE-FA5A-48C6-9248-D68B2BF8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1028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F6B76"/>
                </a:solidFill>
              </a:defRPr>
            </a:pPr>
            <a:r>
              <a:rPr sz="1950" b="0">
                <a:solidFill>
                  <a:srgbClr val="5F6B76"/>
                </a:solidFill>
              </a:rPr>
              <a:t>data/addition/*.csv 與 data/addition_smoke/*.csv 都使用相同欄位，smoke 版適合課堂快速測試。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03821-A419-4848-9539-8C7E1F3A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7A5"/>
          </a:solidFill>
          <a:ln xmlns:a="http://schemas.openxmlformats.org/drawingml/2006/main" w="0">
            <a:solidFill>
              <a:srgbClr val="2AA7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494F1-95A9-443F-B61C-2497AB65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81325"/>
            <a:ext cx="166497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2F245-FE8D-45E7-B422-DB4CC199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160782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12B"/>
                </a:solidFill>
              </a:defRPr>
            </a:pPr>
            <a:r>
              <a:rPr sz="2100" b="0">
                <a:solidFill>
                  <a:srgbClr val="17212B"/>
                </a:solidFill>
              </a:rPr>
              <a:t>a,b,expr,sum</a:t>
            </a:r>
          </a:p>
          <a:p xmlns:a="http://schemas.openxmlformats.org/drawingml/2006/main">
            <a:pPr>
              <a:defRPr sz="2100" b="0">
                <a:solidFill>
                  <a:srgbClr val="17212B"/>
                </a:solidFill>
              </a:defRPr>
            </a:pPr>
            <a:r>
              <a:rPr sz="2100" b="0">
                <a:solidFill>
                  <a:srgbClr val="17212B"/>
                </a:solidFill>
              </a:rPr>
              <a:t>166,644,166+644,810</a:t>
            </a:r>
          </a:p>
          <a:p xmlns:a="http://schemas.openxmlformats.org/drawingml/2006/main">
            <a:pPr>
              <a:defRPr sz="2100" b="0">
                <a:solidFill>
                  <a:srgbClr val="17212B"/>
                </a:solidFill>
              </a:defRPr>
            </a:pPr>
            <a:r>
              <a:rPr sz="2100" b="0">
                <a:solidFill>
                  <a:srgbClr val="17212B"/>
                </a:solidFill>
              </a:rPr>
              <a:t>453,932,453+932,1385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9D343-3C28-42E2-A9E7-294610C4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5397500" cy="5172075"/>
          </a:xfrm>
          <a:prstGeom xmlns:a="http://schemas.openxmlformats.org/drawingml/2006/main" prst="roundRect">
            <a:avLst>
              <a:gd name="adj" fmla="val 1473"/>
            </a:avLst>
          </a:prstGeom>
          <a:solidFill xmlns:a="http://schemas.openxmlformats.org/drawingml/2006/main">
            <a:srgbClr val="DDEBDD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96215-6661-413B-87FE-5ED17B13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0535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train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C0BBF-B0D4-409F-8E63-E709B0CB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86350"/>
            <a:ext cx="485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學習字元模式與答案對應。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3D3F7-FC44-478C-8F85-0EF1ACEB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4467225"/>
            <a:ext cx="5397500" cy="5172075"/>
          </a:xfrm>
          <a:prstGeom xmlns:a="http://schemas.openxmlformats.org/drawingml/2006/main" prst="roundRect">
            <a:avLst>
              <a:gd name="adj" fmla="val 1473"/>
            </a:avLst>
          </a:prstGeom>
          <a:solidFill xmlns:a="http://schemas.openxmlformats.org/drawingml/2006/main">
            <a:srgbClr val="F5E7C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08974-193C-49C5-9AF7-F05DF873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0535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E2372-31F4-48C2-BE7F-DEA89A9A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86350"/>
            <a:ext cx="485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選 best_model.pt，避免只看訓練集。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4695B-098F-4C95-A0AB-A8D23819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4467225"/>
            <a:ext cx="5397500" cy="5172075"/>
          </a:xfrm>
          <a:prstGeom xmlns:a="http://schemas.openxmlformats.org/drawingml/2006/main" prst="roundRect">
            <a:avLst>
              <a:gd name="adj" fmla="val 147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E2A1F-8E2F-4F7C-9C03-3D08073C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70535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120D7-7946-4920-B068-AFAFDDD3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086350"/>
            <a:ext cx="485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輸出 metrics.json，供 compare_all_methods.py 彙整。</a:t>
            </a:r>
          </a:p>
        </p:txBody>
      </p:sp>
    </p:spTree>
    <p:extLst>
      <p:ext uri="{BB962C8B-B14F-4D97-AF65-F5344CB8AC3E}">
        <p14:creationId xmlns:p14="http://schemas.microsoft.com/office/powerpoint/2010/main" val="9269102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1FAA8B-1005-42FB-9F57-731DD943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273016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AA7A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0EF98-F352-4F3E-9EF5-B1A9B7DB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933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NLP Addition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B756F-788B-4459-8B22-A487187B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616" y="647700"/>
            <a:ext cx="90116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62914-CB7F-4C41-8C9F-EE7675CE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PyTorch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DCE8D-D867-4A33-B64F-52E553C2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69913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共同前處理：從字串到 token 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FFA0D-E8EC-4AD6-A6D0-FA829616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895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F6B76"/>
                </a:solidFill>
              </a:defRPr>
            </a:pPr>
            <a:r>
              <a:rPr sz="1950" b="0">
                <a:solidFill>
                  <a:srgbClr val="5F6B76"/>
                </a:solidFill>
              </a:rPr>
              <a:t>common/data_utils.py 把加號與數字都視為字元 token，padding 讓 batch 形狀固定。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2B718-FA88-4B18-B3DB-72B61CFB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7A5"/>
          </a:solidFill>
          <a:ln xmlns:a="http://schemas.openxmlformats.org/drawingml/2006/main" w="0">
            <a:solidFill>
              <a:srgbClr val="2AA7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55B95-3F6A-4AD3-877B-CB277688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95675"/>
            <a:ext cx="8143875" cy="1908175"/>
          </a:xfrm>
          <a:prstGeom xmlns:a="http://schemas.openxmlformats.org/drawingml/2006/main" prst="roundRect">
            <a:avLst>
              <a:gd name="adj" fmla="val 399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CE96B-8BCD-42F1-83B3-8A536258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762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INPUT_VOCAB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E3EEF-F64D-4807-95CC-96DAB72A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1480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&lt;pad&gt;=0, +=1, 0..9 對應字元 id。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C1E72-CFAB-4019-BFF4-B8F1D1F7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3400"/>
            <a:ext cx="8143875" cy="1908175"/>
          </a:xfrm>
          <a:prstGeom xmlns:a="http://schemas.openxmlformats.org/drawingml/2006/main" prst="roundRect">
            <a:avLst>
              <a:gd name="adj" fmla="val 3993"/>
            </a:avLst>
          </a:prstGeom>
          <a:solidFill xmlns:a="http://schemas.openxmlformats.org/drawingml/2006/main">
            <a:srgbClr val="DDF3F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45C45-1E18-4799-BDEF-198CF726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848350"/>
            <a:ext cx="762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MAX_INPUT_LEN=7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5102B-D6F7-4B6C-BE09-7352AC7F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22935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最大輸入是 `999+999`，短式子補 pad。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087DE-0D1C-4F16-A14A-72208793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731125"/>
            <a:ext cx="8143875" cy="1908175"/>
          </a:xfrm>
          <a:prstGeom xmlns:a="http://schemas.openxmlformats.org/drawingml/2006/main" prst="roundRect">
            <a:avLst>
              <a:gd name="adj" fmla="val 3993"/>
            </a:avLst>
          </a:prstGeom>
          <a:solidFill xmlns:a="http://schemas.openxmlformats.org/drawingml/2006/main">
            <a:srgbClr val="F5E7C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900A9-3146-4371-B8EA-CB04F3ED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962900"/>
            <a:ext cx="762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Embedding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E4E07-5A1E-4C39-88EF-A318CC02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34390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所有模型先把 token id 轉成可學習向量。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379497-7192-4062-A506-CA3C7D56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95675"/>
            <a:ext cx="8143875" cy="6143625"/>
          </a:xfrm>
          <a:prstGeom xmlns:a="http://schemas.openxmlformats.org/drawingml/2006/main" prst="roundRect">
            <a:avLst>
              <a:gd name="adj" fmla="val 1240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326694-E8FE-4CB5-B172-CE10E5B0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90950"/>
            <a:ext cx="7505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例：100+20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3F120-C420-4EF5-A8BA-2C56B4A6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24350"/>
            <a:ext cx="7505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DE7E6"/>
                </a:solidFill>
              </a:defRPr>
            </a:pPr>
            <a:r>
              <a:rPr sz="2550" b="0">
                <a:solidFill>
                  <a:srgbClr val="BDE7E6"/>
                </a:solidFill>
              </a:rPr>
              <a:t>[2, 3, 3, 1, 4, 3, 0]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1BC963-2C56-4C59-A38D-FC7A1F2E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857750"/>
            <a:ext cx="7505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7E5EA"/>
                </a:solidFill>
              </a:defRPr>
            </a:pPr>
            <a:r>
              <a:rPr sz="1800" b="0">
                <a:solidFill>
                  <a:srgbClr val="D7E5EA"/>
                </a:solidFill>
              </a:rPr>
              <a:t>pad mask 讓 attention 或 pooling 忽略補齊位置。</a:t>
            </a:r>
          </a:p>
        </p:txBody>
      </p:sp>
    </p:spTree>
    <p:extLst>
      <p:ext uri="{BB962C8B-B14F-4D97-AF65-F5344CB8AC3E}">
        <p14:creationId xmlns:p14="http://schemas.microsoft.com/office/powerpoint/2010/main" val="3172057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C76493-62E4-4B9D-B688-D977B0CA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273016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45E9D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82156-D79C-45A7-9D6B-A3B268CD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933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NLP Addition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A1922-DC7D-4E7B-8AE3-52CE706A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616" y="647700"/>
            <a:ext cx="90116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5FE28-B5FE-4F05-9096-F9A41D8E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PyTorch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90581-7D80-4404-9CA4-7DA2D787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5143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輸出設計一：多元分類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73D28-755A-4E3F-8958-065D6D45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6267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F6B76"/>
                </a:solidFill>
              </a:defRPr>
            </a:pPr>
            <a:r>
              <a:rPr sz="1950" b="0">
                <a:solidFill>
                  <a:srgbClr val="5F6B76"/>
                </a:solidFill>
              </a:rPr>
              <a:t>把每個可能的加總視為一個類別，使用 CrossEntropyLoss。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D2191-C4DE-4947-9CE8-CC15A851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9D"/>
          </a:solidFill>
          <a:ln xmlns:a="http://schemas.openxmlformats.org/drawingml/2006/main" w="0">
            <a:solidFill>
              <a:srgbClr val="245E9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E1FBE-BEE4-4AF0-98CC-6BA0297B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81325"/>
            <a:ext cx="8162925" cy="2079625"/>
          </a:xfrm>
          <a:prstGeom xmlns:a="http://schemas.openxmlformats.org/drawingml/2006/main" prst="roundRect">
            <a:avLst>
              <a:gd name="adj" fmla="val 3664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3B6BA-36E9-43C8-8677-EDA5D7B1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1945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FFNNClassifier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A9651-D26E-4DE0-8677-A95802B2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攤平成固定長度向量，示範最簡單 baseline。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02BE3-ACDF-4B09-A4B0-7CC43714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0500"/>
            <a:ext cx="8162925" cy="2079625"/>
          </a:xfrm>
          <a:prstGeom xmlns:a="http://schemas.openxmlformats.org/drawingml/2006/main" prst="roundRect">
            <a:avLst>
              <a:gd name="adj" fmla="val 3664"/>
            </a:avLst>
          </a:prstGeom>
          <a:solidFill xmlns:a="http://schemas.openxmlformats.org/drawingml/2006/main">
            <a:srgbClr val="DDF3F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52856-71BA-46E7-B942-30174178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0545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LSTM / GRU Classifier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129962-8C74-4845-8335-FBD4120A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88645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用最後 hidden state 表示整個運算式。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70081-E55C-4349-ACE5-8EA1F9D6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559675"/>
            <a:ext cx="8162925" cy="2079625"/>
          </a:xfrm>
          <a:prstGeom xmlns:a="http://schemas.openxmlformats.org/drawingml/2006/main" prst="roundRect">
            <a:avLst>
              <a:gd name="adj" fmla="val 3664"/>
            </a:avLst>
          </a:prstGeom>
          <a:solidFill xmlns:a="http://schemas.openxmlformats.org/drawingml/2006/main">
            <a:srgbClr val="F5E7C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41317-24FE-4D40-8D8D-8DD2CF0A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79145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SelfAttentionClassifier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E1A06-F1F4-43E2-9757-B8158363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17245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用 attention 看不同字元位置的關係。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97CEC3-7A57-46AD-B2CF-2873FE34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981325"/>
            <a:ext cx="8162925" cy="6657975"/>
          </a:xfrm>
          <a:prstGeom xmlns:a="http://schemas.openxmlformats.org/drawingml/2006/main" prst="roundRect">
            <a:avLst>
              <a:gd name="adj" fmla="val 11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B812D-7B60-4A51-B7E8-81CFD1EE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1945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教學重點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330A4-3310-40CD-9FF2-F85387F3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600450"/>
            <a:ext cx="7639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輸出維度是 2000；label 是 sum 的整數值。優點是訓練簡單，缺點是 `1998` 與 `1997` 沒有 digit 結構關係，模型較像在學 class boundary。</a:t>
            </a:r>
          </a:p>
        </p:txBody>
      </p:sp>
    </p:spTree>
    <p:extLst>
      <p:ext uri="{BB962C8B-B14F-4D97-AF65-F5344CB8AC3E}">
        <p14:creationId xmlns:p14="http://schemas.microsoft.com/office/powerpoint/2010/main" val="21375635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BE4AFA-8931-4DA2-B442-E4A13667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273016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3F7F5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83616-267A-49CB-AF16-E2A40A69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933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NLP Addition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4BA86-E000-4962-A7D0-4530DE7D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616" y="647700"/>
            <a:ext cx="90116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DA4CD-3120-452D-B2A4-89D3D137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PyTorch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71D71-68FD-488E-AFD0-8415AD30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4114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輸出設計二：迴歸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50208-E7B2-4739-93F0-4E7183B3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8172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F6B76"/>
                </a:solidFill>
              </a:defRPr>
            </a:pPr>
            <a:r>
              <a:rPr sz="1950" b="0">
                <a:solidFill>
                  <a:srgbClr val="5F6B76"/>
                </a:solidFill>
              </a:rPr>
              <a:t>新增 train_lstm_regression.py：把答案縮放到 0..1，用 MSELoss 學連續數值。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3E159-E3BE-43A9-8584-49992F89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F55"/>
          </a:solidFill>
          <a:ln xmlns:a="http://schemas.openxmlformats.org/drawingml/2006/main" w="0">
            <a:solidFill>
              <a:srgbClr val="3F7F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C8081-DC31-478D-BCD7-4B5B317C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5384800" cy="6410325"/>
          </a:xfrm>
          <a:prstGeom xmlns:a="http://schemas.openxmlformats.org/drawingml/2006/main" prst="roundRect">
            <a:avLst>
              <a:gd name="adj" fmla="val 1415"/>
            </a:avLst>
          </a:prstGeom>
          <a:solidFill xmlns:a="http://schemas.openxmlformats.org/drawingml/2006/main">
            <a:srgbClr val="DDEBDD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A83BF-C57E-479C-99BE-8CA84840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6710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357FA-B792-4E20-BBBC-FE171203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485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sum / 1998.0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2A6D5-BFB4-44C5-BC7E-13277646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3228975"/>
            <a:ext cx="5384800" cy="6410325"/>
          </a:xfrm>
          <a:prstGeom xmlns:a="http://schemas.openxmlformats.org/drawingml/2006/main" prst="roundRect">
            <a:avLst>
              <a:gd name="adj" fmla="val 1415"/>
            </a:avLst>
          </a:prstGeom>
          <a:solidFill xmlns:a="http://schemas.openxmlformats.org/drawingml/2006/main">
            <a:srgbClr val="F5E7C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B9D69-FA33-4BD1-BAE1-76338FEF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6710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9F15A-3434-4991-AA0A-101A8AA4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48100"/>
            <a:ext cx="485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MSELoss，比較預測值與連續答案。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627C4-0CBE-4F6C-B683-3DF0D834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3228975"/>
            <a:ext cx="5384800" cy="6410325"/>
          </a:xfrm>
          <a:prstGeom xmlns:a="http://schemas.openxmlformats.org/drawingml/2006/main" prst="roundRect">
            <a:avLst>
              <a:gd name="adj" fmla="val 1415"/>
            </a:avLst>
          </a:prstGeom>
          <a:solidFill xmlns:a="http://schemas.openxmlformats.org/drawingml/2006/main">
            <a:srgbClr val="F3D8D2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A1953-CA6E-43DC-A48D-A281E5C1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46710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後處理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FEEA0-5A94-4275-B116-050F83BD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84810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乘回 1998、round、clamp，再算 exact_match、MAE、RMSE。</a:t>
            </a:r>
          </a:p>
        </p:txBody>
      </p:sp>
    </p:spTree>
    <p:extLst>
      <p:ext uri="{BB962C8B-B14F-4D97-AF65-F5344CB8AC3E}">
        <p14:creationId xmlns:p14="http://schemas.microsoft.com/office/powerpoint/2010/main" val="4386470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D949F2-A348-477F-B87E-BB946774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273016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49A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D9D6D-5DAF-4293-B79F-F0AD667D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933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NLP Addition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D6B3F-4122-4628-BCB4-90D2BAFB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616" y="647700"/>
            <a:ext cx="90116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7DF29-9DA4-408C-A253-2224B7FE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PyTorch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30DAE-906E-4783-824E-C1B9A944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7658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輸出設計三：多標籤 / 多位置分類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FC4A3-638F-41A9-933E-FCD26F6C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6534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F6B76"/>
                </a:solidFill>
              </a:defRPr>
            </a:pPr>
            <a:r>
              <a:rPr sz="1950" b="0">
                <a:solidFill>
                  <a:srgbClr val="5F6B76"/>
                </a:solidFill>
              </a:rPr>
              <a:t>LSTMMultiLabelClassifier 同時預測千、百、十、個四個 digit。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3EFD2-963E-40FF-A3D2-35FB0302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2A"/>
          </a:solidFill>
          <a:ln xmlns:a="http://schemas.openxmlformats.org/drawingml/2006/main" w="0">
            <a:solidFill>
              <a:srgbClr val="D49A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1863F-9D87-4B96-B385-343E623B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8162925" cy="6410325"/>
          </a:xfrm>
          <a:prstGeom xmlns:a="http://schemas.openxmlformats.org/drawingml/2006/main" prst="roundRect">
            <a:avLst>
              <a:gd name="adj" fmla="val 1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ABB7B-C36E-482C-B4F8-1F0BDB75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7524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B"/>
                </a:solidFill>
              </a:defRPr>
            </a:pPr>
            <a:r>
              <a:rPr sz="3150" b="1">
                <a:solidFill>
                  <a:srgbClr val="17212B"/>
                </a:solidFill>
              </a:rPr>
              <a:t>810 -&gt; 0810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86692-6A9B-4A4B-8696-08FF3297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752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5E9D"/>
                </a:solidFill>
              </a:defRPr>
            </a:pPr>
            <a:r>
              <a:rPr sz="2250" b="0">
                <a:solidFill>
                  <a:srgbClr val="245E9D"/>
                </a:solidFill>
              </a:rPr>
              <a:t>logits shape = [batch, 4, 10]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3CA73-C6E9-433E-BBBF-742C7D04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7524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F6B76"/>
                </a:solidFill>
              </a:defRPr>
            </a:pPr>
            <a:r>
              <a:rPr sz="1950" b="0">
                <a:solidFill>
                  <a:srgbClr val="5F6B76"/>
                </a:solidFill>
              </a:rPr>
              <a:t>每個位置各做一次 CrossEntropyLoss，再加總。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2D376-E886-4FAD-92F0-85F463E1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28975"/>
            <a:ext cx="8162925" cy="3100388"/>
          </a:xfrm>
          <a:prstGeom xmlns:a="http://schemas.openxmlformats.org/drawingml/2006/main" prst="roundRect">
            <a:avLst>
              <a:gd name="adj" fmla="val 2458"/>
            </a:avLst>
          </a:prstGeom>
          <a:solidFill xmlns:a="http://schemas.openxmlformats.org/drawingml/2006/main">
            <a:srgbClr val="DDF3F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8CC24-C747-4F24-8E34-88E105B5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6710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優點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C1743-1D0F-43A2-8D99-CC45FDAB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4810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答案有 digit 結構，輸出空間從 2000 class 變成 4x10。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D0742-3007-4E85-9118-FBF1432E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6538913"/>
            <a:ext cx="8162925" cy="3100388"/>
          </a:xfrm>
          <a:prstGeom xmlns:a="http://schemas.openxmlformats.org/drawingml/2006/main" prst="roundRect">
            <a:avLst>
              <a:gd name="adj" fmla="val 2458"/>
            </a:avLst>
          </a:prstGeom>
          <a:solidFill xmlns:a="http://schemas.openxmlformats.org/drawingml/2006/main">
            <a:srgbClr val="F5E7C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4E430-7D73-41D0-9DAE-560C7BEB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76275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限制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6A453-DD20-4DD1-ADB2-390A4F46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16280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四個位置是平行輸出，不會自然表達『上一位的生成結果』。</a:t>
            </a:r>
          </a:p>
        </p:txBody>
      </p:sp>
    </p:spTree>
    <p:extLst>
      <p:ext uri="{BB962C8B-B14F-4D97-AF65-F5344CB8AC3E}">
        <p14:creationId xmlns:p14="http://schemas.microsoft.com/office/powerpoint/2010/main" val="796707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12926D-2B2F-49D7-BB05-59966B63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273016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AA7A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0BD73-6A83-49F4-B596-0F5806D1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933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NLP Addition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3E8D1-9C8C-4DA7-9B98-D5C18B76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616" y="647700"/>
            <a:ext cx="90116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794F8-6FE3-45A2-AE90-B3945BD8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PyTorch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3986D-3F40-4F8B-BE23-39492341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6172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輸出設計四：左到右生成式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AEBED-5292-464B-9B40-234CE9DB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8420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F6B76"/>
                </a:solidFill>
              </a:defRPr>
            </a:pPr>
            <a:r>
              <a:rPr sz="1950" b="0">
                <a:solidFill>
                  <a:srgbClr val="5F6B76"/>
                </a:solidFill>
              </a:rPr>
              <a:t>LSTMSeq2Seq / TransformerSeq2Seq 使用 teacher forcing，逐步輸出答案 token。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A010E-1F5B-41BC-A4AA-31E3249E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7A5"/>
          </a:solidFill>
          <a:ln xmlns:a="http://schemas.openxmlformats.org/drawingml/2006/main" w="0">
            <a:solidFill>
              <a:srgbClr val="2AA7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289BB-9848-4B73-AF07-BFF9F1CD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81325"/>
            <a:ext cx="8162925" cy="3233738"/>
          </a:xfrm>
          <a:prstGeom xmlns:a="http://schemas.openxmlformats.org/drawingml/2006/main" prst="roundRect">
            <a:avLst>
              <a:gd name="adj" fmla="val 2356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CC3E6-F464-4511-B6D6-88683EDB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1945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decoder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F644D-5745-40CA-BE58-6DE5F76E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&lt;sos&gt; 0 8 1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61C11-9162-4680-A10D-1462E09E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981325"/>
            <a:ext cx="8162925" cy="3233738"/>
          </a:xfrm>
          <a:prstGeom xmlns:a="http://schemas.openxmlformats.org/drawingml/2006/main" prst="roundRect">
            <a:avLst>
              <a:gd name="adj" fmla="val 2356"/>
            </a:avLst>
          </a:prstGeom>
          <a:solidFill xmlns:a="http://schemas.openxmlformats.org/drawingml/2006/main">
            <a:srgbClr val="DDF3F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1080A-5BB1-4CBD-85D2-48C69A1F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1945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decoder 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665A0-8302-4C91-986E-FC3A8F9C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60045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0 8 1 0 &lt;eos&gt;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BA42A-A74F-4912-ADC2-68E52502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05563"/>
            <a:ext cx="8162925" cy="3233738"/>
          </a:xfrm>
          <a:prstGeom xmlns:a="http://schemas.openxmlformats.org/drawingml/2006/main" prst="roundRect">
            <a:avLst>
              <a:gd name="adj" fmla="val 2356"/>
            </a:avLst>
          </a:prstGeom>
          <a:solidFill xmlns:a="http://schemas.openxmlformats.org/drawingml/2006/main">
            <a:srgbClr val="F5E7C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1CBB7-8C0B-4DE2-B347-45F99522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2940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loss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E717B-950E-4E37-9ED3-44A4ED9E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02945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CrossEntropyLoss(ignore_index=pad)，每個時間步都算。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69E034-DF9E-4B22-AE30-18FCADC3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6405563"/>
            <a:ext cx="8162925" cy="3233738"/>
          </a:xfrm>
          <a:prstGeom xmlns:a="http://schemas.openxmlformats.org/drawingml/2006/main" prst="roundRect">
            <a:avLst>
              <a:gd name="adj" fmla="val 2356"/>
            </a:avLst>
          </a:prstGeom>
          <a:solidFill xmlns:a="http://schemas.openxmlformats.org/drawingml/2006/main">
            <a:srgbClr val="DDEBDD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940B0E-23D5-4926-A126-9BA17405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62940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inference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F332D2-EF3A-421D-B427-0286F8D7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02945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greedy_decode：上一個預測 token 餵回 decoder。</a:t>
            </a:r>
          </a:p>
        </p:txBody>
      </p:sp>
    </p:spTree>
    <p:extLst>
      <p:ext uri="{BB962C8B-B14F-4D97-AF65-F5344CB8AC3E}">
        <p14:creationId xmlns:p14="http://schemas.microsoft.com/office/powerpoint/2010/main" val="9895293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7B4C14-A2CD-484F-8C95-341DB988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273016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34A3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66B53-F4A0-43A0-AACD-7B0EA9D6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933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NLP Addition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D6CAE-22BD-4022-89C8-AC2D4801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616" y="647700"/>
            <a:ext cx="90116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FBAA5-1053-463D-B405-D6C7C63B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PyTorch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F1F17-8465-4108-A72C-C9FEEDB5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6172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輸出設計五：右到左生成式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206F9-F136-4D31-815B-9670127D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10134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F6B76"/>
                </a:solidFill>
              </a:defRPr>
            </a:pPr>
            <a:r>
              <a:rPr sz="1950" b="0">
                <a:solidFill>
                  <a:srgbClr val="5F6B76"/>
                </a:solidFill>
              </a:rPr>
              <a:t>新增 train_lstm_reverse_seq2seq.py：先生成個位數，讓輸出順序更接近直式加法的進位方向。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06137-5D2E-4977-8921-96211672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4A36"/>
          </a:solidFill>
          <a:ln xmlns:a="http://schemas.openxmlformats.org/drawingml/2006/main" w="0">
            <a:solidFill>
              <a:srgbClr val="C34A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D328F-59C2-49F0-AC05-F450CD50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8162925" cy="6410325"/>
          </a:xfrm>
          <a:prstGeom xmlns:a="http://schemas.openxmlformats.org/drawingml/2006/main" prst="roundRect">
            <a:avLst>
              <a:gd name="adj" fmla="val 1189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2BBA6-8C93-4B9D-8104-B8AD1516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752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0810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0F4C1-985C-47E6-9A82-9C95A111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752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DE7E6"/>
                </a:solidFill>
              </a:defRPr>
            </a:pPr>
            <a:r>
              <a:rPr sz="2175" b="0">
                <a:solidFill>
                  <a:srgbClr val="BDE7E6"/>
                </a:solidFill>
              </a:rPr>
              <a:t>左到右：0 -&gt; 8 -&gt; 1 -&gt;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1F0A9-CB17-4884-84B5-066F1A01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752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D98B"/>
                </a:solidFill>
              </a:defRPr>
            </a:pPr>
            <a:r>
              <a:rPr sz="2175" b="0">
                <a:solidFill>
                  <a:srgbClr val="F7D98B"/>
                </a:solidFill>
              </a:rPr>
              <a:t>右到左：0 -&gt; 1 -&gt; 8 -&gt;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27957-676A-429D-B195-031FAE84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28975"/>
            <a:ext cx="8162925" cy="1997075"/>
          </a:xfrm>
          <a:prstGeom xmlns:a="http://schemas.openxmlformats.org/drawingml/2006/main" prst="roundRect">
            <a:avLst>
              <a:gd name="adj" fmla="val 3816"/>
            </a:avLst>
          </a:prstGeom>
          <a:solidFill xmlns:a="http://schemas.openxmlformats.org/drawingml/2006/main">
            <a:srgbClr val="F5E7C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9BC2D-72A2-4086-BEF0-3D36F58D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6710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資料差異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00268-7F47-46AF-947C-D43A513A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4810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encode_seq_target(total, reverse=True) 反轉 target digits。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54DD2-D721-4815-B6CF-4BB6FEAF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435600"/>
            <a:ext cx="8162925" cy="1997075"/>
          </a:xfrm>
          <a:prstGeom xmlns:a="http://schemas.openxmlformats.org/drawingml/2006/main" prst="roundRect">
            <a:avLst>
              <a:gd name="adj" fmla="val 3816"/>
            </a:avLst>
          </a:prstGeom>
          <a:solidFill xmlns:a="http://schemas.openxmlformats.org/drawingml/2006/main">
            <a:srgbClr val="F3D8D2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792DEF-F73C-4A79-BB2F-0D541095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65785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評估差異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3ABA0-2435-4D98-8D5A-A38A0DF0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5790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decode 後先反轉回正常順序，再去除前導零比較 exact match。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85041-C230-4696-B59F-3E42B341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7642225"/>
            <a:ext cx="8162925" cy="1997075"/>
          </a:xfrm>
          <a:prstGeom xmlns:a="http://schemas.openxmlformats.org/drawingml/2006/main" prst="roundRect">
            <a:avLst>
              <a:gd name="adj" fmla="val 3816"/>
            </a:avLst>
          </a:prstGeom>
          <a:solidFill xmlns:a="http://schemas.openxmlformats.org/drawingml/2006/main">
            <a:srgbClr val="DDEBDD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066732-073E-4D79-A26C-08B704C0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86765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討論題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D9EC5-1FF2-43B3-9F8A-C45E1673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826770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右到左是否更容易學會進位？可和左到右 seq2seq 對照。</a:t>
            </a:r>
          </a:p>
        </p:txBody>
      </p:sp>
    </p:spTree>
    <p:extLst>
      <p:ext uri="{BB962C8B-B14F-4D97-AF65-F5344CB8AC3E}">
        <p14:creationId xmlns:p14="http://schemas.microsoft.com/office/powerpoint/2010/main" val="21259458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E63B1A-5360-4031-909A-0029838E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273016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325CB-FBA2-4D12-820A-85A9A6A3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933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NLP Addition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B6519-367D-4563-9011-1AB6741D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616" y="647700"/>
            <a:ext cx="90116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15AE3-D68A-4A9E-B13C-9C40A0A9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PyTorch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9CC01-BB2C-4193-9179-0DACF4AF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3086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模型結構比較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B7EC8-1AC0-42FC-B26B-53D79C68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7429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F6B76"/>
                </a:solidFill>
              </a:defRPr>
            </a:pPr>
            <a:r>
              <a:rPr sz="1950" b="0">
                <a:solidFill>
                  <a:srgbClr val="5F6B76"/>
                </a:solidFill>
              </a:rPr>
              <a:t>把架構差異講成『資訊如何流動』，學生會比只記層名更容易理解。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57A05-ACC8-4AB3-9D64-290E11A5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A"/>
          </a:solidFill>
          <a:ln xmlns:a="http://schemas.openxmlformats.org/drawingml/2006/main" w="0">
            <a:solidFill>
              <a:srgbClr val="102A3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37491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A0FAE8-69B8-4466-9DDB-70B6D1F7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273016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3F7F5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0F01E-FF67-4B39-80FF-1FF47020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933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NLP Addition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A7E6E-A5FA-4F54-9CF5-9E57F273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616" y="647700"/>
            <a:ext cx="90116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2C462-75C5-4D6B-A199-AEF15DD7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PyTorch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882FB-5AAD-4D15-ABC1-8BD64EB1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4686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Loss 與 metric 的配對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1AA8F-4210-441A-866F-0E0D31C3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6324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F6B76"/>
                </a:solidFill>
              </a:defRPr>
            </a:pPr>
            <a:r>
              <a:rPr sz="1950" b="0">
                <a:solidFill>
                  <a:srgbClr val="5F6B76"/>
                </a:solidFill>
              </a:rPr>
              <a:t>同一題換輸出形式，loss、後處理、評估指標都要跟著換。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4A4BB-C967-485A-B30D-3C9B456E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F55"/>
          </a:solidFill>
          <a:ln xmlns:a="http://schemas.openxmlformats.org/drawingml/2006/main" w="0">
            <a:solidFill>
              <a:srgbClr val="3F7F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25E97-E38A-43B6-B5EC-269BA881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544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任務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2D621-3547-4449-A5F0-8770224B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0850"/>
            <a:ext cx="544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FED3E-26A9-45F4-AC65-4C727868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2990850"/>
            <a:ext cx="544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主要 metric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17AB9-0EBB-416B-A7C2-DFEFCEAC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544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多元分類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DB69C-7AEB-4233-8470-C1C1EB81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544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CrossEntropy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30746-9E61-4117-9DA8-1D6C8A78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333750"/>
            <a:ext cx="544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accuracy / macro_f1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132AC-279C-42B3-866F-5BF97A39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544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迴歸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55F6E-A1D6-4D7D-B725-5B718332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57600"/>
            <a:ext cx="544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MSE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FD455-A777-4907-B895-DD0198B9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657600"/>
            <a:ext cx="544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MAE / RMSE / rounded exact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BFAD83-CA89-491E-A779-F62682D1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544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多標籤 digit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2386C5-F2CE-46B8-931A-9485FC50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544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4 個 CrossEntropy 加總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64BA2-A9FC-490B-B4E7-7AB8B294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4000500"/>
            <a:ext cx="544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exact_match / digit_accuracy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B31E2E-7EEB-4D07-AA07-8EB5CE24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544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生成式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66D03-10DE-4EE7-B312-6EFE6DD3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24350"/>
            <a:ext cx="544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token CrossEntropy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C083E7-3A97-4C6B-9ED5-C59C9722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4324350"/>
            <a:ext cx="544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exact_match / char_accuracy</a:t>
            </a:r>
          </a:p>
        </p:txBody>
      </p:sp>
    </p:spTree>
    <p:extLst>
      <p:ext uri="{BB962C8B-B14F-4D97-AF65-F5344CB8AC3E}">
        <p14:creationId xmlns:p14="http://schemas.microsoft.com/office/powerpoint/2010/main" val="343927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481BDB-DC9F-48C7-BF50-952D5E95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273016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45E9D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D08A9-0C7F-4F8A-95EC-07504AE1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933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NLP Addition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009A4-0E5D-48AC-8FB4-D4B02C11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616" y="647700"/>
            <a:ext cx="90116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C2982-109E-4E78-8A8D-A03BD6B9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PyTorch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A131B-DEF3-480D-AAB9-4E6BEAED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3086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程式輸出契約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686CE-385E-4626-B6CC-8D5563AC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8001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F6B76"/>
                </a:solidFill>
              </a:defRPr>
            </a:pPr>
            <a:r>
              <a:rPr sz="1950" b="0">
                <a:solidFill>
                  <a:srgbClr val="5F6B76"/>
                </a:solidFill>
              </a:rPr>
              <a:t>每個 train_&lt;method&gt;.py 都維持相同輸出結構，方便自動比較與課堂展示。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01D5A-F144-442E-B950-9633C359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9D"/>
          </a:solidFill>
          <a:ln xmlns:a="http://schemas.openxmlformats.org/drawingml/2006/main" w="0">
            <a:solidFill>
              <a:srgbClr val="245E9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81F74-6799-4421-81F6-54E38F52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81325"/>
            <a:ext cx="8162925" cy="6657975"/>
          </a:xfrm>
          <a:prstGeom xmlns:a="http://schemas.openxmlformats.org/drawingml/2006/main" prst="roundRect">
            <a:avLst>
              <a:gd name="adj" fmla="val 11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4EB08-7F79-4B99-9F2B-2FBD7B6B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75247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</a:defRPr>
            </a:pPr>
            <a:r>
              <a:rPr sz="2250" b="0">
                <a:solidFill>
                  <a:srgbClr val="17212B"/>
                </a:solidFill>
              </a:rPr>
              <a:t>outputs/&lt;method&gt;/</a:t>
            </a:r>
          </a:p>
          <a:p xmlns:a="http://schemas.openxmlformats.org/drawingml/2006/main">
            <a:pPr>
              <a:defRPr sz="2250" b="0">
                <a:solidFill>
                  <a:srgbClr val="17212B"/>
                </a:solidFill>
              </a:defRPr>
            </a:pPr>
            <a:r>
              <a:rPr sz="2250" b="0">
                <a:solidFill>
                  <a:srgbClr val="17212B"/>
                </a:solidFill>
              </a:rPr>
              <a:t>  train.log</a:t>
            </a:r>
          </a:p>
          <a:p xmlns:a="http://schemas.openxmlformats.org/drawingml/2006/main">
            <a:pPr>
              <a:defRPr sz="2250" b="0">
                <a:solidFill>
                  <a:srgbClr val="17212B"/>
                </a:solidFill>
              </a:defRPr>
            </a:pPr>
            <a:r>
              <a:rPr sz="2250" b="0">
                <a:solidFill>
                  <a:srgbClr val="17212B"/>
                </a:solidFill>
              </a:rPr>
              <a:t>  metrics.json</a:t>
            </a:r>
          </a:p>
          <a:p xmlns:a="http://schemas.openxmlformats.org/drawingml/2006/main">
            <a:pPr>
              <a:defRPr sz="2250" b="0">
                <a:solidFill>
                  <a:srgbClr val="17212B"/>
                </a:solidFill>
              </a:defRPr>
            </a:pPr>
            <a:r>
              <a:rPr sz="2250" b="0">
                <a:solidFill>
                  <a:srgbClr val="17212B"/>
                </a:solidFill>
              </a:rPr>
              <a:t>  training_curves.png</a:t>
            </a:r>
          </a:p>
          <a:p xmlns:a="http://schemas.openxmlformats.org/drawingml/2006/main">
            <a:pPr>
              <a:defRPr sz="2250" b="0">
                <a:solidFill>
                  <a:srgbClr val="17212B"/>
                </a:solidFill>
              </a:defRPr>
            </a:pPr>
            <a:r>
              <a:rPr sz="2250" b="0">
                <a:solidFill>
                  <a:srgbClr val="17212B"/>
                </a:solidFill>
              </a:rPr>
              <a:t>  best_model.pt</a:t>
            </a:r>
          </a:p>
          <a:p xmlns:a="http://schemas.openxmlformats.org/drawingml/2006/main">
            <a:pPr>
              <a:defRPr sz="2250" b="0">
                <a:solidFill>
                  <a:srgbClr val="17212B"/>
                </a:solidFill>
              </a:defRPr>
            </a:pPr>
            <a:r>
              <a:rPr sz="2250" b="0">
                <a:solidFill>
                  <a:srgbClr val="17212B"/>
                </a:solidFill>
              </a:rPr>
              <a:t>  roc_curve.png  # multiclass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B7E00-9AEB-44C8-9588-CFD64090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981325"/>
            <a:ext cx="8162925" cy="3224213"/>
          </a:xfrm>
          <a:prstGeom xmlns:a="http://schemas.openxmlformats.org/drawingml/2006/main" prst="roundRect">
            <a:avLst>
              <a:gd name="adj" fmla="val 236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A2F44-F921-4A0B-B176-D5ED9168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1945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compare_all_methods.py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6E162-A991-426C-9C4D-5792F3C6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60045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讀取所有 metrics.json，輸出總表與比較圖。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C6A47-6381-4779-B444-A16453AD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6415088"/>
            <a:ext cx="8162925" cy="3224213"/>
          </a:xfrm>
          <a:prstGeom xmlns:a="http://schemas.openxmlformats.org/drawingml/2006/main" prst="roundRect">
            <a:avLst>
              <a:gd name="adj" fmla="val 2363"/>
            </a:avLst>
          </a:prstGeom>
          <a:solidFill xmlns:a="http://schemas.openxmlformats.org/drawingml/2006/main">
            <a:srgbClr val="DDF3F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04DF5-4D48-426C-9940-8A1390B8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64845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run_all_experiments.py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C1708-A99B-4956-A3EF-AC3819E7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02945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從 JSON/YAML config 產生全流程命令，支援 --dry-run。</a:t>
            </a:r>
          </a:p>
        </p:txBody>
      </p:sp>
    </p:spTree>
    <p:extLst>
      <p:ext uri="{BB962C8B-B14F-4D97-AF65-F5344CB8AC3E}">
        <p14:creationId xmlns:p14="http://schemas.microsoft.com/office/powerpoint/2010/main" val="13634938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C07659-32AC-4420-81BD-9A83A831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273016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49A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7D4AA-B50B-4D3B-9797-97FDCEAC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933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NLP Addition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B2373-3CE6-47F3-87A3-51C85AB1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616" y="647700"/>
            <a:ext cx="90116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84C09-063C-479F-81A8-61394EBA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PyTorch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2F412-05DB-4714-81E2-4CF45669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4114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課堂實作流程建議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4C88B-824B-4968-BFE6-DC2DDC07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8439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F6B76"/>
                </a:solidFill>
              </a:defRPr>
            </a:pPr>
            <a:r>
              <a:rPr sz="1950" b="0">
                <a:solidFill>
                  <a:srgbClr val="5F6B76"/>
                </a:solidFill>
              </a:rPr>
              <a:t>先讓學生跑 smoke，再逐步切換方法，最後用 comparison 看設計選擇的代價。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A1D05-E383-4688-B4D1-97A2BA1B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2A"/>
          </a:solidFill>
          <a:ln xmlns:a="http://schemas.openxmlformats.org/drawingml/2006/main" w="0">
            <a:solidFill>
              <a:srgbClr val="D49A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11397-FC19-4C31-9EFE-20F81312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16649700" cy="1416844"/>
          </a:xfrm>
          <a:prstGeom xmlns:a="http://schemas.openxmlformats.org/drawingml/2006/main" prst="roundRect">
            <a:avLst>
              <a:gd name="adj" fmla="val 5378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ADB1A-4F68-4B33-9091-FE48D4B0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67100"/>
            <a:ext cx="1611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1. 觀察資料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78D6B-9BAE-4193-921F-3D705150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16116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讀 train.csv 的 expr/sum，確認這是字元任務，不是直接呼叫加法。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C7D55-A771-42E9-B7F1-0F778A9C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3469"/>
            <a:ext cx="16649700" cy="1416844"/>
          </a:xfrm>
          <a:prstGeom xmlns:a="http://schemas.openxmlformats.org/drawingml/2006/main" prst="roundRect">
            <a:avLst>
              <a:gd name="adj" fmla="val 5378"/>
            </a:avLst>
          </a:prstGeom>
          <a:solidFill xmlns:a="http://schemas.openxmlformats.org/drawingml/2006/main">
            <a:srgbClr val="DDF3F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C05FC-C76F-4D34-B144-BD23DDAF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1611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2. 跑單一模型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1D3B9-DD8F-4C03-AA02-E98B6723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05450"/>
            <a:ext cx="16116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先跑 FFNN 或 LSTM classifier，理解 embedding、logits、CrossEntropy。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5146A-D5A9-477A-8161-D7211CA3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57963"/>
            <a:ext cx="16649700" cy="1416844"/>
          </a:xfrm>
          <a:prstGeom xmlns:a="http://schemas.openxmlformats.org/drawingml/2006/main" prst="roundRect">
            <a:avLst>
              <a:gd name="adj" fmla="val 5378"/>
            </a:avLst>
          </a:prstGeom>
          <a:solidFill xmlns:a="http://schemas.openxmlformats.org/drawingml/2006/main">
            <a:srgbClr val="F5E7C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3FE97-2B9C-472F-857C-1AA37CEF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781800"/>
            <a:ext cx="1611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3. 換輸出形式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4DC3B-AC0A-4FDA-9B68-06651C1C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181850"/>
            <a:ext cx="16116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比較 regression、multilabel、seq2seq、reverse seq2seq。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277029-31C1-4E37-B88D-3AB233EB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222456"/>
            <a:ext cx="16649700" cy="1416844"/>
          </a:xfrm>
          <a:prstGeom xmlns:a="http://schemas.openxmlformats.org/drawingml/2006/main" prst="roundRect">
            <a:avLst>
              <a:gd name="adj" fmla="val 5378"/>
            </a:avLst>
          </a:prstGeom>
          <a:solidFill xmlns:a="http://schemas.openxmlformats.org/drawingml/2006/main">
            <a:srgbClr val="DDEBDD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57467-2F73-4E20-9799-68B9D9D8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458200"/>
            <a:ext cx="1611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4. 討論泛化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53D92-C7AD-4E6C-8509-99ADA47D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839200"/>
            <a:ext cx="16116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把位數、資料量、輸出方向、loss 換掉，觀察哪些模型真的學到規則。</a:t>
            </a:r>
          </a:p>
        </p:txBody>
      </p:sp>
    </p:spTree>
    <p:extLst>
      <p:ext uri="{BB962C8B-B14F-4D97-AF65-F5344CB8AC3E}">
        <p14:creationId xmlns:p14="http://schemas.microsoft.com/office/powerpoint/2010/main" val="152425806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79B69D-6D9F-4A5E-8F9D-AFE04398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273016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34A3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A4327-B307-44EB-8E7F-0C557712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933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NLP Addition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527C5-FC16-4982-985F-C3E06E75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616" y="647700"/>
            <a:ext cx="90116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5EFF3-A0AB-490F-B47D-15D7847D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PyTorch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7E1CA-E4EF-4F8E-82E9-18CF9173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3600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可延伸的比較題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31B18-AFFE-4522-800E-691B5D72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9696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F6B76"/>
                </a:solidFill>
              </a:defRPr>
            </a:pPr>
            <a:r>
              <a:rPr sz="1950" b="0">
                <a:solidFill>
                  <a:srgbClr val="5F6B76"/>
                </a:solidFill>
              </a:rPr>
              <a:t>這些題目適合當作作業或期末 mini project，能自然連到 NLP 與 deep learning 的核心觀念。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95114-EC3F-4E48-B658-4CAE2DC2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4A36"/>
          </a:solidFill>
          <a:ln xmlns:a="http://schemas.openxmlformats.org/drawingml/2006/main" w="0">
            <a:solidFill>
              <a:srgbClr val="C34A3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3036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2026-04-28T09:19:17.9490000Z</dcterms:created>
  <dcterms:modified xsi:type="dcterms:W3CDTF">2026-04-28T09:19:17.9490000Z</dcterms:modified>
</coreProperties>
</file>